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87443" y="1314450"/>
            <a:ext cx="636896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spcAft>
                <a:spcPts val="1500"/>
              </a:spcAft>
              <a:buNone/>
            </a:pPr>
            <a:r>
              <a:rPr lang="en-US" sz="45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LUBRICATION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820175" y="2228850"/>
            <a:ext cx="3503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Aft>
                <a:spcPts val="2250"/>
              </a:spcAft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Identifying Friction Areas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2667000" y="3009900"/>
            <a:ext cx="3810000" cy="38100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126516" y="3524250"/>
            <a:ext cx="28909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Halfords Model Engine Workshop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3816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Friction?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333500"/>
            <a:ext cx="8382000" cy="2019300"/>
          </a:xfrm>
          <a:prstGeom prst="roundRect">
            <a:avLst>
              <a:gd name="adj" fmla="val 5660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9575" y="1333500"/>
            <a:ext cx="0" cy="2019300"/>
          </a:xfrm>
          <a:prstGeom prst="line">
            <a:avLst/>
          </a:prstGeom>
          <a:noFill/>
          <a:ln w="5715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6750" y="1562100"/>
            <a:ext cx="802500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metal parts rub together: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66750" y="2019300"/>
            <a:ext cx="7867650" cy="11049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Creates HEAT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Causes WEAR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💥 Can lead to FAILURE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81000" y="3657600"/>
            <a:ext cx="8382000" cy="1066800"/>
          </a:xfrm>
          <a:prstGeom prst="roundRect">
            <a:avLst>
              <a:gd name="adj" fmla="val 10714"/>
            </a:avLst>
          </a:prstGeom>
          <a:solidFill>
            <a:srgbClr val="3449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71500" y="3886200"/>
            <a:ext cx="8161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Solution: ENGINE OIL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71500" y="4229100"/>
            <a:ext cx="8161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creates a thin film between moving parts to stop direct contact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81000" y="4762500"/>
            <a:ext cx="3565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3816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Engines Need Oil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904875"/>
            <a:ext cx="8382000" cy="1123950"/>
          </a:xfrm>
          <a:prstGeom prst="roundRect">
            <a:avLst>
              <a:gd name="adj" fmla="val 10169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9575" y="904875"/>
            <a:ext cx="0" cy="1123950"/>
          </a:xfrm>
          <a:prstGeom prst="line">
            <a:avLst/>
          </a:prstGeom>
          <a:noFill/>
          <a:ln w="5715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1500" y="1038225"/>
            <a:ext cx="821931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450"/>
              </a:spcAft>
              <a:buNone/>
            </a:pPr>
            <a:r>
              <a:rPr lang="en-US" sz="1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71500" y="1400175"/>
            <a:ext cx="82193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Friction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71500" y="1704975"/>
            <a:ext cx="8219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Stops metal-to-metal contact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1000" y="2181225"/>
            <a:ext cx="8382000" cy="1123950"/>
          </a:xfrm>
          <a:prstGeom prst="roundRect">
            <a:avLst>
              <a:gd name="adj" fmla="val 10169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9575" y="2181225"/>
            <a:ext cx="0" cy="1123950"/>
          </a:xfrm>
          <a:prstGeom prst="line">
            <a:avLst/>
          </a:prstGeom>
          <a:noFill/>
          <a:ln w="5715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1500" y="2314575"/>
            <a:ext cx="821931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450"/>
              </a:spcAft>
              <a:buNone/>
            </a:pPr>
            <a:r>
              <a:rPr lang="en-US" sz="1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71500" y="2676525"/>
            <a:ext cx="82193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 the Engine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71500" y="2981325"/>
            <a:ext cx="8219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Carries heat away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1000" y="3457575"/>
            <a:ext cx="8382000" cy="1123950"/>
          </a:xfrm>
          <a:prstGeom prst="roundRect">
            <a:avLst>
              <a:gd name="adj" fmla="val 10169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09575" y="3457575"/>
            <a:ext cx="0" cy="1123950"/>
          </a:xfrm>
          <a:prstGeom prst="line">
            <a:avLst/>
          </a:prstGeom>
          <a:noFill/>
          <a:ln w="5715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" y="3590925"/>
            <a:ext cx="821931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450"/>
              </a:spcAft>
              <a:buNone/>
            </a:pPr>
            <a:r>
              <a:rPr lang="en-US" sz="1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71500" y="3952875"/>
            <a:ext cx="82193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Damage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71500" y="4257675"/>
            <a:ext cx="8219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engine running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1000" y="4705350"/>
            <a:ext cx="3565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63429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8 Critical Friction Areas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181100"/>
            <a:ext cx="2205484" cy="571500"/>
          </a:xfrm>
          <a:prstGeom prst="roundRect">
            <a:avLst>
              <a:gd name="adj" fmla="val 13333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181100"/>
            <a:ext cx="0" cy="57150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38884" y="1181100"/>
            <a:ext cx="1592461" cy="571500"/>
          </a:xfrm>
          <a:prstGeom prst="roundRect">
            <a:avLst>
              <a:gd name="adj" fmla="val 13333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757934" y="1181100"/>
            <a:ext cx="0" cy="57150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1000" y="1905000"/>
            <a:ext cx="1710035" cy="571500"/>
          </a:xfrm>
          <a:prstGeom prst="roundRect">
            <a:avLst>
              <a:gd name="adj" fmla="val 13333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0050" y="1905000"/>
            <a:ext cx="0" cy="57150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3435" y="1905000"/>
            <a:ext cx="1836688" cy="571500"/>
          </a:xfrm>
          <a:prstGeom prst="roundRect">
            <a:avLst>
              <a:gd name="adj" fmla="val 13333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262485" y="1905000"/>
            <a:ext cx="0" cy="57150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1000" y="2628900"/>
            <a:ext cx="2701379" cy="571500"/>
          </a:xfrm>
          <a:prstGeom prst="roundRect">
            <a:avLst>
              <a:gd name="adj" fmla="val 13333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00050" y="2628900"/>
            <a:ext cx="0" cy="57150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34779" y="2628900"/>
            <a:ext cx="1843385" cy="571500"/>
          </a:xfrm>
          <a:prstGeom prst="roundRect">
            <a:avLst>
              <a:gd name="adj" fmla="val 13333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253829" y="2628900"/>
            <a:ext cx="0" cy="57150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1000" y="3352800"/>
            <a:ext cx="2272159" cy="571500"/>
          </a:xfrm>
          <a:prstGeom prst="roundRect">
            <a:avLst>
              <a:gd name="adj" fmla="val 13333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00050" y="3352800"/>
            <a:ext cx="0" cy="57150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05559" y="3352800"/>
            <a:ext cx="1967061" cy="571500"/>
          </a:xfrm>
          <a:prstGeom prst="roundRect">
            <a:avLst>
              <a:gd name="adj" fmla="val 13333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2824609" y="3352800"/>
            <a:ext cx="0" cy="57150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1000" y="4229100"/>
            <a:ext cx="8382000" cy="647700"/>
          </a:xfrm>
          <a:prstGeom prst="roundRect">
            <a:avLst>
              <a:gd name="adj" fmla="val 11765"/>
            </a:avLst>
          </a:prstGeom>
          <a:solidFill>
            <a:srgbClr val="3449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2628" y="4419600"/>
            <a:ext cx="8238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look at each one in detail...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81000" y="4762500"/>
            <a:ext cx="3565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238250" y="476250"/>
            <a:ext cx="318774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Camshaft Bearings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809750"/>
            <a:ext cx="8382000" cy="1257300"/>
          </a:xfrm>
          <a:prstGeom prst="roundRect">
            <a:avLst>
              <a:gd name="adj" fmla="val 9091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9575" y="1809750"/>
            <a:ext cx="0" cy="1257300"/>
          </a:xfrm>
          <a:prstGeom prst="line">
            <a:avLst/>
          </a:prstGeom>
          <a:noFill/>
          <a:ln w="5715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850" y="2076450"/>
            <a:ext cx="79472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Where to Find It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04850" y="2495550"/>
            <a:ext cx="79472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of the engine where the camshaft rotates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1000" y="3371850"/>
            <a:ext cx="8382000" cy="1257300"/>
          </a:xfrm>
          <a:prstGeom prst="roundRect">
            <a:avLst>
              <a:gd name="adj" fmla="val 9091"/>
            </a:avLst>
          </a:prstGeom>
          <a:solidFill>
            <a:srgbClr val="3449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7700" y="3638550"/>
            <a:ext cx="80055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Why It Needs Oil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7700" y="4057650"/>
            <a:ext cx="80055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camshaft spins at high speed to operate the valves. Oil stops it from seizing up.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1000" y="4762500"/>
            <a:ext cx="14301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| Friction Area 1 of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238250" y="476250"/>
            <a:ext cx="18277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Valve Train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809750"/>
            <a:ext cx="8382000" cy="1257300"/>
          </a:xfrm>
          <a:prstGeom prst="roundRect">
            <a:avLst>
              <a:gd name="adj" fmla="val 9091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9575" y="1809750"/>
            <a:ext cx="0" cy="1257300"/>
          </a:xfrm>
          <a:prstGeom prst="line">
            <a:avLst/>
          </a:prstGeom>
          <a:noFill/>
          <a:ln w="5715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850" y="2076450"/>
            <a:ext cx="79472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Where to Find It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04850" y="2495550"/>
            <a:ext cx="79472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Rocker arms, lifters, and cam lobes in the cylinder head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1000" y="3371850"/>
            <a:ext cx="8382000" cy="1257300"/>
          </a:xfrm>
          <a:prstGeom prst="roundRect">
            <a:avLst>
              <a:gd name="adj" fmla="val 9091"/>
            </a:avLst>
          </a:prstGeom>
          <a:solidFill>
            <a:srgbClr val="3449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7700" y="3638550"/>
            <a:ext cx="80055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Why It Needs Oil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7700" y="4057650"/>
            <a:ext cx="80055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Parts push against each other constantly under high pressure. Oil reduces wear.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1000" y="4762500"/>
            <a:ext cx="14301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| Friction Area 2 of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238250" y="476250"/>
            <a:ext cx="213741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Piston Rings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809750"/>
            <a:ext cx="8382000" cy="1257300"/>
          </a:xfrm>
          <a:prstGeom prst="roundRect">
            <a:avLst>
              <a:gd name="adj" fmla="val 9091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9575" y="1809750"/>
            <a:ext cx="0" cy="1257300"/>
          </a:xfrm>
          <a:prstGeom prst="line">
            <a:avLst/>
          </a:prstGeom>
          <a:noFill/>
          <a:ln w="5715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850" y="2076450"/>
            <a:ext cx="79472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Where to Find It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04850" y="2495550"/>
            <a:ext cx="79472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Rings around the piston that seal the cylinder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1000" y="3371850"/>
            <a:ext cx="8382000" cy="1257300"/>
          </a:xfrm>
          <a:prstGeom prst="roundRect">
            <a:avLst>
              <a:gd name="adj" fmla="val 9091"/>
            </a:avLst>
          </a:prstGeom>
          <a:solidFill>
            <a:srgbClr val="3449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7700" y="3638550"/>
            <a:ext cx="80055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Why It Needs Oil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7700" y="4057650"/>
            <a:ext cx="80055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Rings scrape against cylinder walls constantly. Oil stops them wearing out.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1000" y="4762500"/>
            <a:ext cx="14301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| Friction Area 3 of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238250" y="476250"/>
            <a:ext cx="239714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Cylinder Walls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809750"/>
            <a:ext cx="8382000" cy="1257300"/>
          </a:xfrm>
          <a:prstGeom prst="roundRect">
            <a:avLst>
              <a:gd name="adj" fmla="val 9091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9575" y="1809750"/>
            <a:ext cx="0" cy="1257300"/>
          </a:xfrm>
          <a:prstGeom prst="line">
            <a:avLst/>
          </a:prstGeom>
          <a:noFill/>
          <a:ln w="5715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850" y="2076450"/>
            <a:ext cx="79472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Where to Find It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04850" y="2495550"/>
            <a:ext cx="79472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smooth inner surface where the piston slides up and down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1000" y="3371850"/>
            <a:ext cx="8382000" cy="1257300"/>
          </a:xfrm>
          <a:prstGeom prst="roundRect">
            <a:avLst>
              <a:gd name="adj" fmla="val 9091"/>
            </a:avLst>
          </a:prstGeom>
          <a:solidFill>
            <a:srgbClr val="3449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7700" y="3638550"/>
            <a:ext cx="80055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Why It Needs Oil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7700" y="4057650"/>
            <a:ext cx="80055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Piston moves thousands of times per minute. Oil prevents scoring of the walls.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1000" y="4762500"/>
            <a:ext cx="14301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| Friction Area 4 of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238250" y="476250"/>
            <a:ext cx="429455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Rod Bearings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809750"/>
            <a:ext cx="8382000" cy="1257300"/>
          </a:xfrm>
          <a:prstGeom prst="roundRect">
            <a:avLst>
              <a:gd name="adj" fmla="val 9091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9575" y="1809750"/>
            <a:ext cx="0" cy="1257300"/>
          </a:xfrm>
          <a:prstGeom prst="line">
            <a:avLst/>
          </a:prstGeom>
          <a:noFill/>
          <a:ln w="5715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850" y="2076450"/>
            <a:ext cx="79472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Where to Find It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04850" y="2495550"/>
            <a:ext cx="79472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connecting rod joins to the crankshaft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1000" y="3371850"/>
            <a:ext cx="8382000" cy="1257300"/>
          </a:xfrm>
          <a:prstGeom prst="roundRect">
            <a:avLst>
              <a:gd name="adj" fmla="val 9091"/>
            </a:avLst>
          </a:prstGeom>
          <a:solidFill>
            <a:srgbClr val="3449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7700" y="3638550"/>
            <a:ext cx="80055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Why It Needs Oil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7700" y="4057650"/>
            <a:ext cx="80055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huge forces. Pressurized oil creates a protective film between metal surfaces.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1000" y="4762500"/>
            <a:ext cx="14301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 | Friction Area 5 of 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238250" y="476250"/>
            <a:ext cx="23906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Bearings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809750"/>
            <a:ext cx="8382000" cy="1257300"/>
          </a:xfrm>
          <a:prstGeom prst="roundRect">
            <a:avLst>
              <a:gd name="adj" fmla="val 9091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9575" y="1809750"/>
            <a:ext cx="0" cy="1257300"/>
          </a:xfrm>
          <a:prstGeom prst="line">
            <a:avLst/>
          </a:prstGeom>
          <a:noFill/>
          <a:ln w="5715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850" y="2076450"/>
            <a:ext cx="79472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Where to Find It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04850" y="2495550"/>
            <a:ext cx="79472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the crankshaft in the engine block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1000" y="3371850"/>
            <a:ext cx="8382000" cy="1257300"/>
          </a:xfrm>
          <a:prstGeom prst="roundRect">
            <a:avLst>
              <a:gd name="adj" fmla="val 9091"/>
            </a:avLst>
          </a:prstGeom>
          <a:solidFill>
            <a:srgbClr val="3449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7700" y="3638550"/>
            <a:ext cx="80055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Why It Needs Oil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7700" y="4057650"/>
            <a:ext cx="80055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the entire engine weight and forces. Need constant oil supply to prevent failure.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1000" y="4762500"/>
            <a:ext cx="14949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10 | Friction Area 6 of 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238250" y="476250"/>
            <a:ext cx="33820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Crankshaft Journals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809750"/>
            <a:ext cx="8382000" cy="1257300"/>
          </a:xfrm>
          <a:prstGeom prst="roundRect">
            <a:avLst>
              <a:gd name="adj" fmla="val 9091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9575" y="1809750"/>
            <a:ext cx="0" cy="1257300"/>
          </a:xfrm>
          <a:prstGeom prst="line">
            <a:avLst/>
          </a:prstGeom>
          <a:noFill/>
          <a:ln w="5715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850" y="2076450"/>
            <a:ext cx="79472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Where to Find It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04850" y="2495550"/>
            <a:ext cx="79472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Polished surfaces on the crankshaft where bearings sit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1000" y="3371850"/>
            <a:ext cx="8382000" cy="1257300"/>
          </a:xfrm>
          <a:prstGeom prst="roundRect">
            <a:avLst>
              <a:gd name="adj" fmla="val 9091"/>
            </a:avLst>
          </a:prstGeom>
          <a:solidFill>
            <a:srgbClr val="3449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7700" y="3638550"/>
            <a:ext cx="80055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Why It Needs Oil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7700" y="4057650"/>
            <a:ext cx="80055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surfaces must stay polished. Oil keeps them separated from bearings.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1000" y="4762500"/>
            <a:ext cx="14863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11 | Friction Area 7 of 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238250" y="476250"/>
            <a:ext cx="26240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Pump Gears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809750"/>
            <a:ext cx="8382000" cy="1257300"/>
          </a:xfrm>
          <a:prstGeom prst="roundRect">
            <a:avLst>
              <a:gd name="adj" fmla="val 9091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9575" y="1809750"/>
            <a:ext cx="0" cy="1257300"/>
          </a:xfrm>
          <a:prstGeom prst="line">
            <a:avLst/>
          </a:prstGeom>
          <a:noFill/>
          <a:ln w="5715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850" y="2076450"/>
            <a:ext cx="79472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Where to Find It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04850" y="2495550"/>
            <a:ext cx="79472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of the engine, driven by the crankshaft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1000" y="3371850"/>
            <a:ext cx="8382000" cy="1257300"/>
          </a:xfrm>
          <a:prstGeom prst="roundRect">
            <a:avLst>
              <a:gd name="adj" fmla="val 9091"/>
            </a:avLst>
          </a:prstGeom>
          <a:solidFill>
            <a:srgbClr val="3449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7700" y="3638550"/>
            <a:ext cx="80055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Why It Needs Oil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7700" y="4057650"/>
            <a:ext cx="80055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pump must work reliably to circulate oil. Its own gears need oil to work smoothly.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1000" y="4762500"/>
            <a:ext cx="14949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12 | Friction Area 8 of 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3816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Facts to Remember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047750"/>
            <a:ext cx="8382000" cy="609600"/>
          </a:xfrm>
          <a:prstGeom prst="roundRect">
            <a:avLst>
              <a:gd name="adj" fmla="val 18750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9575" y="1047750"/>
            <a:ext cx="0" cy="609600"/>
          </a:xfrm>
          <a:prstGeom prst="line">
            <a:avLst/>
          </a:prstGeom>
          <a:noFill/>
          <a:ln w="57150">
            <a:solidFill>
              <a:srgbClr val="F39C1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600" y="1219200"/>
            <a:ext cx="81415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Without oil, engine parts would touch metal-to-metal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81000" y="1733550"/>
            <a:ext cx="8382000" cy="609600"/>
          </a:xfrm>
          <a:prstGeom prst="roundRect">
            <a:avLst>
              <a:gd name="adj" fmla="val 18750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09575" y="1733550"/>
            <a:ext cx="0" cy="609600"/>
          </a:xfrm>
          <a:prstGeom prst="line">
            <a:avLst/>
          </a:prstGeom>
          <a:noFill/>
          <a:ln w="57150">
            <a:solidFill>
              <a:srgbClr val="F39C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600" y="1905000"/>
            <a:ext cx="81415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This causes extreme heat and wear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81000" y="2419350"/>
            <a:ext cx="8382000" cy="609600"/>
          </a:xfrm>
          <a:prstGeom prst="roundRect">
            <a:avLst>
              <a:gd name="adj" fmla="val 18750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9575" y="2419350"/>
            <a:ext cx="0" cy="609600"/>
          </a:xfrm>
          <a:prstGeom prst="line">
            <a:avLst/>
          </a:prstGeom>
          <a:noFill/>
          <a:ln w="5715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9600" y="2590800"/>
            <a:ext cx="81415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Engine could seize in minutes without oil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81000" y="3105150"/>
            <a:ext cx="8382000" cy="609600"/>
          </a:xfrm>
          <a:prstGeom prst="roundRect">
            <a:avLst>
              <a:gd name="adj" fmla="val 18750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09575" y="3105150"/>
            <a:ext cx="0" cy="609600"/>
          </a:xfrm>
          <a:prstGeom prst="line">
            <a:avLst/>
          </a:prstGeom>
          <a:noFill/>
          <a:ln w="5715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600" y="3276600"/>
            <a:ext cx="81415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Oil pressure pushes oil to hard-to-reach areas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81000" y="3905250"/>
            <a:ext cx="8382000" cy="533400"/>
          </a:xfrm>
          <a:prstGeom prst="roundRect">
            <a:avLst>
              <a:gd name="adj" fmla="val 21429"/>
            </a:avLst>
          </a:prstGeom>
          <a:solidFill>
            <a:srgbClr val="3449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52628" y="4057650"/>
            <a:ext cx="8238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is the lifeblood of the engine!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1000" y="4762500"/>
            <a:ext cx="4214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09201" y="533400"/>
            <a:ext cx="4525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Aft>
                <a:spcPts val="2250"/>
              </a:spcAft>
              <a:buNone/>
            </a:pPr>
            <a:r>
              <a:rPr lang="en-US" sz="3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We Learn?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369790" y="1428750"/>
            <a:ext cx="4404420" cy="1866900"/>
          </a:xfrm>
          <a:prstGeom prst="roundRect">
            <a:avLst>
              <a:gd name="adj" fmla="val 6122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398365" y="1428750"/>
            <a:ext cx="0" cy="1866900"/>
          </a:xfrm>
          <a:prstGeom prst="line">
            <a:avLst/>
          </a:prstGeom>
          <a:noFill/>
          <a:ln w="57150">
            <a:solidFill>
              <a:srgbClr val="F39C1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94364" y="1771650"/>
            <a:ext cx="381242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300"/>
              </a:spcBef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Critical Friction Areas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694364" y="2266950"/>
            <a:ext cx="38124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one needs oil to prevent damage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694364" y="2686050"/>
            <a:ext cx="38124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your Halfords model to identify them all!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667000" y="3829050"/>
            <a:ext cx="3810000" cy="38100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91111" y="4305300"/>
            <a:ext cx="23617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225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try the interactive activity!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Engine Lubrication System - Friction Areas</dc:title>
  <dc:subject>Automotive Education</dc:subject>
  <dc:creator>CodeEdAI</dc:creator>
  <cp:lastModifiedBy>CodeEdAI</cp:lastModifiedBy>
  <cp:revision>1</cp:revision>
  <dcterms:created xsi:type="dcterms:W3CDTF">2025-12-09T10:17:55Z</dcterms:created>
  <dcterms:modified xsi:type="dcterms:W3CDTF">2025-12-09T10:17:55Z</dcterms:modified>
</cp:coreProperties>
</file>